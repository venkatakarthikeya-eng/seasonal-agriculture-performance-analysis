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41" r:id="rId19"/>
    <p:sldId id="342" r:id="rId20"/>
    <p:sldId id="34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4" d="100"/>
          <a:sy n="84" d="100"/>
        </p:scale>
        <p:origin x="562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15" y="3915683"/>
            <a:ext cx="8324741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 - </a:t>
            </a:r>
            <a:r>
              <a:rPr lang="en-IN" dirty="0"/>
              <a:t>Cherukuri Venkata Karthikeya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 - </a:t>
            </a:r>
            <a:r>
              <a:rPr lang="en-IN" dirty="0"/>
              <a:t>Vellore Institute of Technology – Amaravati (VIT-AP University)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6755708" cy="8107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sz="3200" b="1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812618" y="5037365"/>
            <a:ext cx="472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STU6a5e427b530f41784562299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5624" y="1946782"/>
            <a:ext cx="745744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Agricultural performance can change from one season to another because of differences in rainfall, temperature, soil conditions, irrigation, farming practices, resource usage and market conditions.</a:t>
            </a:r>
          </a:p>
          <a:p>
            <a:r>
              <a:rPr lang="en-IN" dirty="0">
                <a:solidFill>
                  <a:schemeClr val="tx1"/>
                </a:solidFill>
              </a:rPr>
              <a:t>This project focuses on </a:t>
            </a:r>
            <a:r>
              <a:rPr lang="en-IN" dirty="0" err="1">
                <a:solidFill>
                  <a:schemeClr val="tx1"/>
                </a:solidFill>
              </a:rPr>
              <a:t>analyzing</a:t>
            </a:r>
            <a:r>
              <a:rPr lang="en-IN" dirty="0">
                <a:solidFill>
                  <a:schemeClr val="tx1"/>
                </a:solidFill>
              </a:rPr>
              <a:t> an agricultural dataset to understand these seasonal variations and identify meaningful patterns in yield, production, water usage and profit.</a:t>
            </a:r>
          </a:p>
          <a:p>
            <a:r>
              <a:rPr lang="en-IN" dirty="0">
                <a:solidFill>
                  <a:schemeClr val="tx1"/>
                </a:solidFill>
              </a:rPr>
              <a:t>The analysis uses statistical methods and visualizations to compare seasons, crops and other important agricultural factors and to provide useful data-based observations.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480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17DAB2-4D2A-D0C1-754F-FA02B9CA9DB0}"/>
              </a:ext>
            </a:extLst>
          </p:cNvPr>
          <p:cNvSpPr txBox="1"/>
          <p:nvPr/>
        </p:nvSpPr>
        <p:spPr>
          <a:xfrm>
            <a:off x="874215" y="1489340"/>
            <a:ext cx="82972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project </a:t>
            </a:r>
            <a:r>
              <a:rPr lang="en-IN" dirty="0" err="1"/>
              <a:t>analyzes</a:t>
            </a:r>
            <a:r>
              <a:rPr lang="en-IN" dirty="0"/>
              <a:t> </a:t>
            </a:r>
            <a:r>
              <a:rPr lang="en-IN" b="1" dirty="0"/>
              <a:t>4,000 agricultural records with 28 variables</a:t>
            </a:r>
            <a:r>
              <a:rPr lang="en-IN" dirty="0"/>
              <a:t> covering different crops, seasons, locations, environmental conditions, farming practices and economic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project starts with data loading and quality checking, followed by missing-value treatment, duplicate checking and variable review. Descriptive statistics are then used to understand the overall data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Univariate, bivariate and multivariate visualizations are used to study seasonal differences and relationships between variables such as rainfall, yield, farm area, production, irrigation, water usage and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main purpose is to understand which seasonal and crop-level patterns stand out in the data and support the findings with evidence rather than assumptions.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368362"/>
            <a:ext cx="8157465" cy="48084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       Farmers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Understand seasonal yield and profit patterns.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Compare crop performance across seasons. </a:t>
            </a:r>
          </a:p>
          <a:p>
            <a:r>
              <a:rPr lang="en-IN" sz="1600" dirty="0">
                <a:solidFill>
                  <a:schemeClr val="tx1"/>
                </a:solidFill>
              </a:rPr>
              <a:t>Review water and irrigation usage.</a:t>
            </a:r>
            <a:br>
              <a:rPr lang="en-IN" sz="1600" dirty="0">
                <a:solidFill>
                  <a:schemeClr val="tx1"/>
                </a:solidFill>
              </a:rPr>
            </a:br>
            <a:br>
              <a:rPr lang="en-IN" sz="1600" b="1" dirty="0">
                <a:solidFill>
                  <a:schemeClr val="tx1"/>
                </a:solidFill>
              </a:rPr>
            </a:br>
            <a:r>
              <a:rPr lang="en-IN" sz="1600" b="1" dirty="0">
                <a:solidFill>
                  <a:schemeClr val="tx1"/>
                </a:solidFill>
              </a:rPr>
              <a:t>Agricultural Analysts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Study relationships between environmental conditions and crop performance.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Compare regional and seasonal agricultural trends. 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       Agricultural Planners / Decision Makers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Use historical data to support seasonal planning.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Identify areas that need further investigation. 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      Researchers and Students</a:t>
            </a:r>
          </a:p>
          <a:p>
            <a:pPr lvl="0"/>
            <a:r>
              <a:rPr lang="en-IN" sz="1600" dirty="0">
                <a:solidFill>
                  <a:schemeClr val="tx1"/>
                </a:solidFill>
              </a:rPr>
              <a:t>Use the analysis as a base for further agricultural studies.</a:t>
            </a:r>
          </a:p>
          <a:p>
            <a:pPr algn="just">
              <a:lnSpc>
                <a:spcPct val="150000"/>
              </a:lnSpc>
            </a:pP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88" y="475296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20485" y="1500164"/>
            <a:ext cx="3317864" cy="429713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Programming Language</a:t>
            </a:r>
            <a:endParaRPr lang="en-IN" sz="1200" dirty="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</a:pPr>
            <a:r>
              <a:rPr lang="en-IN" sz="1200" dirty="0">
                <a:solidFill>
                  <a:schemeClr val="tx1"/>
                </a:solidFill>
              </a:rPr>
              <a:t>Python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Libraries</a:t>
            </a:r>
            <a:endParaRPr lang="en-IN" sz="1200" dirty="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</a:pPr>
            <a:r>
              <a:rPr lang="en-IN" sz="1200" dirty="0">
                <a:solidFill>
                  <a:schemeClr val="tx1"/>
                </a:solidFill>
              </a:rPr>
              <a:t>Pandas — data handling and analysis </a:t>
            </a:r>
          </a:p>
          <a:p>
            <a:pPr lvl="0">
              <a:lnSpc>
                <a:spcPct val="100000"/>
              </a:lnSpc>
            </a:pPr>
            <a:r>
              <a:rPr lang="en-IN" sz="1200" dirty="0">
                <a:solidFill>
                  <a:schemeClr val="tx1"/>
                </a:solidFill>
              </a:rPr>
              <a:t>NumPy — numerical operations </a:t>
            </a:r>
          </a:p>
          <a:p>
            <a:pPr lvl="0">
              <a:lnSpc>
                <a:spcPct val="100000"/>
              </a:lnSpc>
            </a:pPr>
            <a:r>
              <a:rPr lang="en-IN" sz="1200" dirty="0">
                <a:solidFill>
                  <a:schemeClr val="tx1"/>
                </a:solidFill>
              </a:rPr>
              <a:t>Matplotlib — data visualization </a:t>
            </a:r>
          </a:p>
          <a:p>
            <a:pPr lvl="0">
              <a:lnSpc>
                <a:spcPct val="100000"/>
              </a:lnSpc>
            </a:pPr>
            <a:r>
              <a:rPr lang="en-IN" sz="1200" dirty="0">
                <a:solidFill>
                  <a:schemeClr val="tx1"/>
                </a:solidFill>
              </a:rPr>
              <a:t>Seaborn — statistical visualization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solidFill>
                  <a:schemeClr val="tx1"/>
                </a:solidFill>
              </a:rPr>
              <a:t>Development Environment</a:t>
            </a:r>
            <a:endParaRPr lang="en-IN" sz="1200" dirty="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</a:pPr>
            <a:r>
              <a:rPr lang="en-IN" sz="1200" dirty="0">
                <a:solidFill>
                  <a:schemeClr val="tx1"/>
                </a:solidFill>
              </a:rPr>
              <a:t>Jupyter Notebook </a:t>
            </a:r>
          </a:p>
          <a:p>
            <a:pPr lvl="1"/>
            <a:endParaRPr lang="en-IN" sz="105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414FF0-9798-22F6-4E2D-A2F81101E73E}"/>
              </a:ext>
            </a:extLst>
          </p:cNvPr>
          <p:cNvSpPr txBox="1"/>
          <p:nvPr/>
        </p:nvSpPr>
        <p:spPr>
          <a:xfrm>
            <a:off x="5966690" y="1242356"/>
            <a:ext cx="2948940" cy="335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200" b="1" dirty="0"/>
              <a:t>Analysis Techniques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Data Cleaning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Exploratory Data Analysis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Descriptive Statistics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Univariate Analysis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Bivariate Analysis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Multivariate Analysis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Correlation Analysis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Outlier Analysis 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419" y="1859011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Statistical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03ACD7-0D4D-358D-83B8-5D2300E53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179" y="1045613"/>
            <a:ext cx="7109312" cy="54263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0A3670-E203-8849-587D-BE9D4D8BDB60}"/>
              </a:ext>
            </a:extLst>
          </p:cNvPr>
          <p:cNvSpPr txBox="1"/>
          <p:nvPr/>
        </p:nvSpPr>
        <p:spPr>
          <a:xfrm>
            <a:off x="846419" y="2794550"/>
            <a:ext cx="34238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Summary table with Mean, Std, Median, Min, Max for Yield, Profit, Rainfall, Temperature, etc.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AA683F-B51E-FC23-D156-AB674938C684}"/>
              </a:ext>
            </a:extLst>
          </p:cNvPr>
          <p:cNvSpPr txBox="1"/>
          <p:nvPr/>
        </p:nvSpPr>
        <p:spPr>
          <a:xfrm>
            <a:off x="4430268" y="500490"/>
            <a:ext cx="60990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Statistical Summary &amp; Outlier Analysis</a:t>
            </a: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Outlier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5CB3BA-42DF-CF1E-6AF9-1B0430E7F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012" y="370589"/>
            <a:ext cx="5462788" cy="60875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A1F529-B892-A219-D919-351DEDB47B67}"/>
              </a:ext>
            </a:extLst>
          </p:cNvPr>
          <p:cNvSpPr txBox="1"/>
          <p:nvPr/>
        </p:nvSpPr>
        <p:spPr>
          <a:xfrm>
            <a:off x="807164" y="2346494"/>
            <a:ext cx="3664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Table showing lower/upper IQR bounds, outlier counts, and percentages for each feature.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8303-2B7F-FD45-99E0-2C2AEF385401}"/>
              </a:ext>
            </a:extLst>
          </p:cNvPr>
          <p:cNvSpPr txBox="1"/>
          <p:nvPr/>
        </p:nvSpPr>
        <p:spPr>
          <a:xfrm>
            <a:off x="3515868" y="43687"/>
            <a:ext cx="60990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Statistical Summary &amp; Outlier Analysis</a:t>
            </a: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Univariate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AA1DC6-723F-D72C-6B09-6FF165542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653" y="1431693"/>
            <a:ext cx="4320914" cy="39475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9DAD0D-5A42-FBE9-5419-8926AAEA7909}"/>
              </a:ext>
            </a:extLst>
          </p:cNvPr>
          <p:cNvSpPr txBox="1"/>
          <p:nvPr/>
        </p:nvSpPr>
        <p:spPr>
          <a:xfrm>
            <a:off x="1747519" y="5478141"/>
            <a:ext cx="60990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Boxplot highlighting yield spread and high-yield outlier points.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E4522-170C-8ECF-EFBC-2E0F8E47DD1B}"/>
              </a:ext>
            </a:extLst>
          </p:cNvPr>
          <p:cNvSpPr txBox="1"/>
          <p:nvPr/>
        </p:nvSpPr>
        <p:spPr>
          <a:xfrm>
            <a:off x="4345694" y="691830"/>
            <a:ext cx="60990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Statistical Summary &amp; Outlier Analysis</a:t>
            </a: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977205" y="120594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Univariate Analysis</a:t>
            </a: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25164B-3526-17E3-37D2-71AA9EDA5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608410"/>
            <a:ext cx="4656223" cy="4618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E3836D-567C-4A8A-5E98-0002D70D06EE}"/>
              </a:ext>
            </a:extLst>
          </p:cNvPr>
          <p:cNvSpPr txBox="1"/>
          <p:nvPr/>
        </p:nvSpPr>
        <p:spPr>
          <a:xfrm>
            <a:off x="498348" y="1201586"/>
            <a:ext cx="4567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Univariate: Season distribution (Pie Chart)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028C89-1199-1C48-EEC6-4973A136B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406" y="1635127"/>
            <a:ext cx="4663844" cy="39475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8E79CF-7D01-9ADE-53E3-A7B136C76D58}"/>
              </a:ext>
            </a:extLst>
          </p:cNvPr>
          <p:cNvSpPr txBox="1"/>
          <p:nvPr/>
        </p:nvSpPr>
        <p:spPr>
          <a:xfrm>
            <a:off x="3835209" y="331388"/>
            <a:ext cx="60990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Univariate Analysis (Distributions &amp; Seasonality)</a:t>
            </a: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97636" y="1130890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Univariate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359A4-7574-83F3-CB51-EA7A92B82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698" y="1708870"/>
            <a:ext cx="4275138" cy="4351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C7C34-4B6D-B419-E6BF-0174BFCE8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795" y="1708870"/>
            <a:ext cx="4249538" cy="43519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0C4B1-31A5-EFEF-4D08-B6F7E916EF2A}"/>
              </a:ext>
            </a:extLst>
          </p:cNvPr>
          <p:cNvSpPr txBox="1"/>
          <p:nvPr/>
        </p:nvSpPr>
        <p:spPr>
          <a:xfrm>
            <a:off x="4832458" y="1122789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Yield / Profit distribution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D6718B-4832-B621-0CE5-B0B32CAD46A3}"/>
              </a:ext>
            </a:extLst>
          </p:cNvPr>
          <p:cNvSpPr txBox="1"/>
          <p:nvPr/>
        </p:nvSpPr>
        <p:spPr>
          <a:xfrm>
            <a:off x="4060174" y="411594"/>
            <a:ext cx="60990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Univariate Analysis (Distributions &amp; Seasonality)</a:t>
            </a: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539B-E87C-18C1-5F62-C71D1FF3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2082F7-4CFD-23D5-C53F-0B63F9E7DC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D7E49D-4C96-20B3-F13A-E29052D9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A5E21B5-2772-0EF3-EB14-6F3CFB111F9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AE897FF-79DD-120C-9246-9456D758FAF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93374-61EB-A3A0-2320-B24962012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968642"/>
            <a:ext cx="3901778" cy="38865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D909E1-7B57-C7E4-FCFC-A4321B668BF9}"/>
              </a:ext>
            </a:extLst>
          </p:cNvPr>
          <p:cNvSpPr txBox="1"/>
          <p:nvPr/>
        </p:nvSpPr>
        <p:spPr>
          <a:xfrm>
            <a:off x="422310" y="1404577"/>
            <a:ext cx="609904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Bar plots for Bivariate Analysis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75D66B-CB15-64DB-6841-8E59ED3C9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694" y="1968642"/>
            <a:ext cx="3848433" cy="35207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71D790-ABA1-CC9D-C7BD-09874300EEFA}"/>
              </a:ext>
            </a:extLst>
          </p:cNvPr>
          <p:cNvSpPr txBox="1"/>
          <p:nvPr/>
        </p:nvSpPr>
        <p:spPr>
          <a:xfrm>
            <a:off x="4987203" y="1504432"/>
            <a:ext cx="609904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Bivariate Analysis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B798E32-73DB-6AF9-6257-C692506DD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061" y="2110943"/>
            <a:ext cx="3754419" cy="30645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F8B6809-25CB-A136-1A15-2D80869B7C82}"/>
              </a:ext>
            </a:extLst>
          </p:cNvPr>
          <p:cNvSpPr txBox="1"/>
          <p:nvPr/>
        </p:nvSpPr>
        <p:spPr>
          <a:xfrm>
            <a:off x="9021956" y="1569930"/>
            <a:ext cx="6099048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Bivariate Analysis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89397B-3CED-F41E-7982-FFC799F2B81C}"/>
              </a:ext>
            </a:extLst>
          </p:cNvPr>
          <p:cNvSpPr txBox="1"/>
          <p:nvPr/>
        </p:nvSpPr>
        <p:spPr>
          <a:xfrm>
            <a:off x="4629540" y="756576"/>
            <a:ext cx="75624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Bivariate Analysis (Key Performance Drivers)</a:t>
            </a: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71000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F04FC-11CD-0FBA-9F1C-17653DFC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B8F75D-0F49-87A6-2786-654DFD88F4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15CCD-3231-ADD3-2F42-0C38557A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6C9B72A-2C2A-0F96-3BE7-7634E48901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2528B9F-1D13-00F9-2545-F4D2C9797F1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20CF12-A1CF-1E20-CEC5-DA7AD05C8C68}"/>
              </a:ext>
            </a:extLst>
          </p:cNvPr>
          <p:cNvSpPr txBox="1"/>
          <p:nvPr/>
        </p:nvSpPr>
        <p:spPr>
          <a:xfrm>
            <a:off x="4045023" y="301511"/>
            <a:ext cx="3343561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/>
              <a:t>Multivariate Analysis (Interactions &amp; Environmental Factors)</a:t>
            </a:r>
          </a:p>
          <a:p>
            <a:pPr marL="0" marR="0" indent="0" algn="l">
              <a:spcAft>
                <a:spcPts val="600"/>
              </a:spcAft>
              <a:buNone/>
            </a:pP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F46B88-C124-E6ED-C8FD-F6AFA562D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319" y="160999"/>
            <a:ext cx="4013273" cy="3100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E09C8B-CD55-8893-C876-A54B96DC4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304" y="3353756"/>
            <a:ext cx="5642230" cy="34412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B8D6BD-7684-258C-D2EF-279C81644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73" y="1275371"/>
            <a:ext cx="4740051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9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5B2AC-6CF0-6FE1-6BD4-3F50FE81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EC51B1-7000-2A88-204C-ACDFB4E221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4A27ABB-7739-473D-6BDF-107FDDAB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EFCACC0-FB2B-F84C-21C3-FD5F460323B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44DFA48-C844-0617-97A5-40480AF1DD9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E308B6-8D12-C67E-3435-D8C9F98D26C6}"/>
              </a:ext>
            </a:extLst>
          </p:cNvPr>
          <p:cNvSpPr txBox="1"/>
          <p:nvPr/>
        </p:nvSpPr>
        <p:spPr>
          <a:xfrm>
            <a:off x="1409387" y="1645902"/>
            <a:ext cx="2595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/>
              <a:t>Correlation Matrix </a:t>
            </a: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7E93C4-9B71-B990-2AFC-C964A98D0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031" y="68289"/>
            <a:ext cx="5837426" cy="6721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79832A-1DCD-FFA7-4DC2-C4A24ED00B05}"/>
              </a:ext>
            </a:extLst>
          </p:cNvPr>
          <p:cNvSpPr txBox="1"/>
          <p:nvPr/>
        </p:nvSpPr>
        <p:spPr>
          <a:xfrm>
            <a:off x="397764" y="2767118"/>
            <a:ext cx="5216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Correlation Heatmap (16x12)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 displaying Pearson correlation coefficients across all numerical indicators.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40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ACB82-19CA-7B7D-D544-D2EE1B39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BF8E3-1719-7B54-0958-E59E376AB1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A91E3A7-7A58-5CEA-26FC-3F8EDACF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A62D94F-62F1-4948-7DE7-21393BBA526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3D45C5A-B01E-C614-82D9-0EAA5BCCA38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1CD3E8-665E-F6AA-05B1-35E144DAF951}"/>
              </a:ext>
            </a:extLst>
          </p:cNvPr>
          <p:cNvSpPr txBox="1"/>
          <p:nvPr/>
        </p:nvSpPr>
        <p:spPr>
          <a:xfrm>
            <a:off x="1409387" y="1645902"/>
            <a:ext cx="2595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/>
              <a:t>Seasonal Comparison</a:t>
            </a:r>
            <a:endParaRPr lang="en-IN" sz="1350" b="1" i="0" dirty="0">
              <a:solidFill>
                <a:srgbClr val="101010"/>
              </a:solidFill>
              <a:effectLst/>
              <a:latin typeface="system-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B70C7-33C4-5ADD-0D3F-21FD40581E3B}"/>
              </a:ext>
            </a:extLst>
          </p:cNvPr>
          <p:cNvSpPr txBox="1"/>
          <p:nvPr/>
        </p:nvSpPr>
        <p:spPr>
          <a:xfrm>
            <a:off x="615019" y="5582628"/>
            <a:ext cx="3966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Aggregated Summary Table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 showing total production, average profit, water usage, and records per season.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5C725B-5114-1BD2-8BC8-34DF01EA6520}"/>
              </a:ext>
            </a:extLst>
          </p:cNvPr>
          <p:cNvSpPr txBox="1"/>
          <p:nvPr/>
        </p:nvSpPr>
        <p:spPr>
          <a:xfrm>
            <a:off x="5391914" y="5645110"/>
            <a:ext cx="3966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Ranked Performance Table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 showing Average Yield, Profit, and Water Efficiency grouped by Season and Crop.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BEE54C-19F7-140C-9B61-DBF9A4177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80" y="2114249"/>
            <a:ext cx="3970364" cy="23471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CD4127-6A81-6CB7-C548-232A46845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432" y="289560"/>
            <a:ext cx="3307712" cy="519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3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44" y="1069704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2D01D-5101-4D40-1C7F-98B02DAB8BBD}"/>
              </a:ext>
            </a:extLst>
          </p:cNvPr>
          <p:cNvSpPr txBox="1"/>
          <p:nvPr/>
        </p:nvSpPr>
        <p:spPr>
          <a:xfrm>
            <a:off x="1001268" y="1941449"/>
            <a:ext cx="8252460" cy="378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The current project is focused on descriptive and exploratory data analytics. It can be extended in several ways.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more years of agricultural data for long-term seasonal trend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 deeper regional comparisons between states and districts.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Study crop-specific environmental requirements in more detail.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resource efficiency, especially water and fertilizer usage.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statistical hypothesis testing for stronger comparisons.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 an interactive dashboard for easier use by decision makers.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predictive models in a future project to estimate yield or profit.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C04CA-E66E-8F7D-9FD2-EAF2E61E4C4A}"/>
              </a:ext>
            </a:extLst>
          </p:cNvPr>
          <p:cNvSpPr txBox="1"/>
          <p:nvPr/>
        </p:nvSpPr>
        <p:spPr>
          <a:xfrm>
            <a:off x="2082554" y="3339463"/>
            <a:ext cx="7701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https://github.com/VenkataKarthikeya-eng/seasonal-agriculture-performance-analysis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A56B76-8585-8EF3-4A6C-CD998EE974BB}"/>
              </a:ext>
            </a:extLst>
          </p:cNvPr>
          <p:cNvSpPr txBox="1"/>
          <p:nvPr/>
        </p:nvSpPr>
        <p:spPr>
          <a:xfrm>
            <a:off x="1211580" y="139256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Project:</a:t>
            </a:r>
            <a:r>
              <a:rPr lang="en-IN" dirty="0"/>
              <a:t> Seasonal Agriculture Performance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C4F1F-298A-E8B9-FD2F-59446E1D3D36}"/>
              </a:ext>
            </a:extLst>
          </p:cNvPr>
          <p:cNvSpPr txBox="1"/>
          <p:nvPr/>
        </p:nvSpPr>
        <p:spPr>
          <a:xfrm>
            <a:off x="4261104" y="263051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Repository Link: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F8842D-6465-4B4F-4A63-14216B8D0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155" y="1359963"/>
            <a:ext cx="7374190" cy="52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50144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621</TotalTime>
  <Words>683</Words>
  <Application>Microsoft Office PowerPoint</Application>
  <PresentationFormat>Widescreen</PresentationFormat>
  <Paragraphs>96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system-ui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Karthikeya cherukuri</cp:lastModifiedBy>
  <cp:revision>100</cp:revision>
  <dcterms:created xsi:type="dcterms:W3CDTF">2021-07-11T13:13:15Z</dcterms:created>
  <dcterms:modified xsi:type="dcterms:W3CDTF">2026-09-05T19:09:53Z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